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60544-6D59-4B7B-A5D6-717CC9692D34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DEC40-3FFC-43F9-A33F-74AC98B0C7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099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4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1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8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31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35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82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318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80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74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545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77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4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242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48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313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32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E146D-EF20-40C6-9ED7-2453B8CAA1EA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3DD7D-7DB5-40DF-B003-FA08335933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08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upervised-machine-learnin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geeksforgeeks.org/machine-learning/unsupervised-learnin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what-is-reinforcement-learnin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487680" y="3350896"/>
            <a:ext cx="11216640" cy="1097280"/>
          </a:xfrm>
          <a:prstGeom prst="rect">
            <a:avLst/>
          </a:prstGeom>
          <a:solidFill>
            <a:srgbClr val="3D1F7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0560" y="3350896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Intelligence (AI) is a technology that enables machines and computers to perform tasks that typically require human intelligence. It allows systems to learn from data, </a:t>
            </a:r>
            <a:r>
              <a:rPr lang="en-US" sz="1733" i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recognise</a:t>
            </a:r>
            <a:r>
              <a:rPr lang="en-US" sz="1733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patterns, and make decisions to solve complex problems.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3121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AI — By Capability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04800" y="1341120"/>
            <a:ext cx="3718560" cy="530352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04800" y="1341120"/>
            <a:ext cx="3718560" cy="792480"/>
          </a:xfrm>
          <a:prstGeom prst="rect">
            <a:avLst/>
          </a:prstGeom>
          <a:solidFill>
            <a:srgbClr val="0D6EBD"/>
          </a:solidFill>
          <a:ln/>
        </p:spPr>
      </p:sp>
      <p:sp>
        <p:nvSpPr>
          <p:cNvPr id="6" name="Text 4"/>
          <p:cNvSpPr/>
          <p:nvPr/>
        </p:nvSpPr>
        <p:spPr>
          <a:xfrm>
            <a:off x="304800" y="1341120"/>
            <a:ext cx="3718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🎯</a:t>
            </a:r>
            <a:endParaRPr lang="en-US" sz="3467" dirty="0"/>
          </a:p>
        </p:txBody>
      </p:sp>
      <p:sp>
        <p:nvSpPr>
          <p:cNvPr id="7" name="Shape 5"/>
          <p:cNvSpPr/>
          <p:nvPr/>
        </p:nvSpPr>
        <p:spPr>
          <a:xfrm>
            <a:off x="426720" y="2218944"/>
            <a:ext cx="3474720" cy="3657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426720" y="2218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EXISTS TODAY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426720" y="26578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6E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Narrow AI (ANI)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6720" y="316992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Narrow Intelligence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51104" y="3657600"/>
            <a:ext cx="3425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Excels at ONE specific task. Cannot generalise beyond its training.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6720" y="4815840"/>
            <a:ext cx="3474720" cy="170688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3" name="Text 11"/>
          <p:cNvSpPr/>
          <p:nvPr/>
        </p:nvSpPr>
        <p:spPr>
          <a:xfrm>
            <a:off x="524256" y="4876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524256" y="5218176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 err="1" smtClean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467" dirty="0" smtClean="0">
              <a:solidFill>
                <a:srgbClr val="7B8AA0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r>
              <a:rPr lang="en-US" sz="1467" dirty="0" smtClean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Translate</a:t>
            </a:r>
          </a:p>
          <a:p>
            <a:r>
              <a:rPr lang="en-US" sz="1467" dirty="0" smtClean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 </a:t>
            </a:r>
            <a:r>
              <a:rPr lang="en-US" sz="1467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on Netflix or YouTube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291584" y="1341120"/>
            <a:ext cx="3718560" cy="530352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1584" y="1341120"/>
            <a:ext cx="3718560" cy="792480"/>
          </a:xfrm>
          <a:prstGeom prst="rect">
            <a:avLst/>
          </a:prstGeom>
          <a:solidFill>
            <a:srgbClr val="7B5EB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1584" y="1341120"/>
            <a:ext cx="3718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🧠</a:t>
            </a:r>
            <a:endParaRPr lang="en-US" sz="3467" dirty="0"/>
          </a:p>
        </p:txBody>
      </p:sp>
      <p:sp>
        <p:nvSpPr>
          <p:cNvPr id="18" name="Shape 16"/>
          <p:cNvSpPr/>
          <p:nvPr/>
        </p:nvSpPr>
        <p:spPr>
          <a:xfrm>
            <a:off x="4413504" y="2218944"/>
            <a:ext cx="347472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4413504" y="2218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RESEARCH GOAL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413504" y="26578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7B5E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AI (AGI)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13504" y="316992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General Intelligence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4437888" y="3657600"/>
            <a:ext cx="3425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Human-level reasoning across all domains. Can learn anything a human can.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13504" y="4815840"/>
            <a:ext cx="3474720" cy="170688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4" name="Text 22"/>
          <p:cNvSpPr/>
          <p:nvPr/>
        </p:nvSpPr>
        <p:spPr>
          <a:xfrm>
            <a:off x="4511040" y="4876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4511040" y="5218176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Hypothetical — no AGI exists yet</a:t>
            </a:r>
            <a:endParaRPr lang="en-US" sz="1467" dirty="0"/>
          </a:p>
        </p:txBody>
      </p:sp>
      <p:sp>
        <p:nvSpPr>
          <p:cNvPr id="26" name="Shape 24"/>
          <p:cNvSpPr/>
          <p:nvPr/>
        </p:nvSpPr>
        <p:spPr>
          <a:xfrm>
            <a:off x="8278368" y="1341120"/>
            <a:ext cx="3718560" cy="530352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8368" y="1341120"/>
            <a:ext cx="3718560" cy="79248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8278368" y="1341120"/>
            <a:ext cx="371856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🌌</a:t>
            </a:r>
            <a:endParaRPr lang="en-US" sz="3467" dirty="0"/>
          </a:p>
        </p:txBody>
      </p:sp>
      <p:sp>
        <p:nvSpPr>
          <p:cNvPr id="29" name="Shape 27"/>
          <p:cNvSpPr/>
          <p:nvPr/>
        </p:nvSpPr>
        <p:spPr>
          <a:xfrm>
            <a:off x="8400288" y="2218944"/>
            <a:ext cx="3474720" cy="36576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0" name="Text 28"/>
          <p:cNvSpPr/>
          <p:nvPr/>
        </p:nvSpPr>
        <p:spPr>
          <a:xfrm>
            <a:off x="8400288" y="2218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HYPOTHETICAL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8400288" y="265785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AI (ASI)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00288" y="3169920"/>
            <a:ext cx="3474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Artificial Superintelligence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8424672" y="3657600"/>
            <a:ext cx="3425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111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 surpasses human intelligence in every field — science, creativity, social skills.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00288" y="4815840"/>
            <a:ext cx="3474720" cy="170688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35" name="Text 33"/>
          <p:cNvSpPr/>
          <p:nvPr/>
        </p:nvSpPr>
        <p:spPr>
          <a:xfrm>
            <a:off x="8497824" y="4876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3D1F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8497824" y="5218176"/>
            <a:ext cx="329184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7B8A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that creates new content such as text, images, music, or code.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2562000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</a:t>
            </a:r>
            <a:endParaRPr lang="en-US" sz="3733" dirty="0"/>
          </a:p>
        </p:txBody>
      </p:sp>
      <p:sp>
        <p:nvSpPr>
          <p:cNvPr id="35" name="Rectangle 34"/>
          <p:cNvSpPr/>
          <p:nvPr/>
        </p:nvSpPr>
        <p:spPr>
          <a:xfrm>
            <a:off x="85725" y="140636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fontAlgn="base"/>
            <a:r>
              <a:rPr lang="en-US" sz="2400" b="1" dirty="0">
                <a:solidFill>
                  <a:srgbClr val="273239"/>
                </a:solidFill>
                <a:latin typeface="Nunito"/>
              </a:rPr>
              <a:t>1. Supervised Learning Models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In </a:t>
            </a:r>
            <a:r>
              <a:rPr lang="en-US" sz="2400" u="sng" dirty="0">
                <a:solidFill>
                  <a:srgbClr val="357960"/>
                </a:solidFill>
                <a:latin typeface="Nunito"/>
                <a:hlinkClick r:id="rId3"/>
              </a:rPr>
              <a:t>supervised learning</a:t>
            </a:r>
            <a:r>
              <a:rPr lang="en-US" sz="2400" dirty="0">
                <a:solidFill>
                  <a:srgbClr val="273239"/>
                </a:solidFill>
                <a:latin typeface="Nunito"/>
              </a:rPr>
              <a:t>, AI is trained on labeled data with clear input-output pairs to learn the relationship between them.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Reduces prediction errors during training.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Used in image classification, spam filtering, and medical diagnosis.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4601" y="1499593"/>
            <a:ext cx="56197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400" b="1" dirty="0">
                <a:solidFill>
                  <a:srgbClr val="273239"/>
                </a:solidFill>
                <a:latin typeface="Nunito"/>
              </a:rPr>
              <a:t>2. Unsupervised Learning Models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In </a:t>
            </a:r>
            <a:r>
              <a:rPr lang="en-US" sz="2400" u="sng" dirty="0">
                <a:solidFill>
                  <a:srgbClr val="357960"/>
                </a:solidFill>
                <a:latin typeface="Nunito"/>
                <a:hlinkClick r:id="rId4"/>
              </a:rPr>
              <a:t>unsupervised learning</a:t>
            </a:r>
            <a:r>
              <a:rPr lang="en-US" sz="2400" dirty="0">
                <a:solidFill>
                  <a:srgbClr val="273239"/>
                </a:solidFill>
                <a:latin typeface="Nunito"/>
              </a:rPr>
              <a:t>, AI works with unlabeled data to identify hidden patterns, trends, or groupings automatically.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Helps discover structures within complex datasets.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Used in clustering, customer segmentation, and fraud detection.</a:t>
            </a:r>
          </a:p>
        </p:txBody>
      </p:sp>
    </p:spTree>
    <p:extLst>
      <p:ext uri="{BB962C8B-B14F-4D97-AF65-F5344CB8AC3E}">
        <p14:creationId xmlns:p14="http://schemas.microsoft.com/office/powerpoint/2010/main" val="510724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Models</a:t>
            </a:r>
            <a:endParaRPr lang="en-US" sz="3733" dirty="0"/>
          </a:p>
        </p:txBody>
      </p:sp>
      <p:sp>
        <p:nvSpPr>
          <p:cNvPr id="4" name="Rectangle 3"/>
          <p:cNvSpPr/>
          <p:nvPr/>
        </p:nvSpPr>
        <p:spPr>
          <a:xfrm>
            <a:off x="676275" y="1804392"/>
            <a:ext cx="96393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400" b="1" dirty="0">
                <a:solidFill>
                  <a:srgbClr val="273239"/>
                </a:solidFill>
                <a:latin typeface="Nunito"/>
              </a:rPr>
              <a:t>3. Reinforcement Learning </a:t>
            </a:r>
            <a:r>
              <a:rPr lang="en-US" sz="2400" b="1" dirty="0" smtClean="0">
                <a:solidFill>
                  <a:srgbClr val="273239"/>
                </a:solidFill>
                <a:latin typeface="Nunito"/>
              </a:rPr>
              <a:t>Models</a:t>
            </a:r>
          </a:p>
          <a:p>
            <a:pPr algn="ctr" fontAlgn="base"/>
            <a:endParaRPr lang="en-US" sz="2400" b="1" dirty="0">
              <a:solidFill>
                <a:srgbClr val="273239"/>
              </a:solidFill>
              <a:latin typeface="Nunito"/>
            </a:endParaRPr>
          </a:p>
          <a:p>
            <a:pPr algn="ctr" fontAlgn="base"/>
            <a:endParaRPr lang="en-US" sz="2400" b="1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In </a:t>
            </a:r>
            <a:r>
              <a:rPr lang="en-US" sz="2400" u="sng" dirty="0">
                <a:solidFill>
                  <a:srgbClr val="357960"/>
                </a:solidFill>
                <a:latin typeface="Nunito"/>
                <a:hlinkClick r:id="rId3"/>
              </a:rPr>
              <a:t>reinforcement learning</a:t>
            </a:r>
            <a:r>
              <a:rPr lang="en-US" sz="2400" dirty="0">
                <a:solidFill>
                  <a:srgbClr val="273239"/>
                </a:solidFill>
                <a:latin typeface="Nunito"/>
              </a:rPr>
              <a:t>, AI learns by interacting with an environment using rewards and penalties as feedback</a:t>
            </a:r>
            <a:r>
              <a:rPr lang="en-US" sz="24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Optimizes decisions through trial and error</a:t>
            </a:r>
            <a:r>
              <a:rPr lang="en-US" sz="2400" dirty="0" smtClean="0">
                <a:solidFill>
                  <a:srgbClr val="273239"/>
                </a:solidFill>
                <a:latin typeface="Nunito"/>
              </a:rPr>
              <a:t>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73239"/>
              </a:solidFill>
              <a:latin typeface="Nunit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Used in robotics, gaming, and autonomous systems.</a:t>
            </a:r>
          </a:p>
        </p:txBody>
      </p:sp>
    </p:spTree>
    <p:extLst>
      <p:ext uri="{BB962C8B-B14F-4D97-AF65-F5344CB8AC3E}">
        <p14:creationId xmlns:p14="http://schemas.microsoft.com/office/powerpoint/2010/main" val="2579924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" y="1804392"/>
            <a:ext cx="110109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400" b="1" dirty="0"/>
              <a:t> 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2400" dirty="0"/>
              <a:t>Automates repetitive tasks, reduces errors and improves workflow efficiency.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2400" dirty="0"/>
              <a:t>Helps in better decision making by analyzing large amounts of data.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2400" dirty="0"/>
              <a:t>Provides personalized experiences based on user preferences.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2400" dirty="0"/>
              <a:t>Works continuously without breaks, enabling 24/7 operations.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US" sz="2400" dirty="0"/>
              <a:t>Identifies patterns in large datasets for insights like fraud detection and diagnostics.</a:t>
            </a:r>
          </a:p>
          <a:p>
            <a:pPr marL="380990" indent="-380990" algn="ctr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73239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63354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</a:p>
          <a:p>
            <a:pPr algn="ctr"/>
            <a:endParaRPr lang="en-US" sz="3733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6675" y="1804393"/>
            <a:ext cx="1101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sz="2400" b="1" dirty="0"/>
              <a:t> </a:t>
            </a:r>
            <a:endParaRPr lang="en-US" sz="2400" dirty="0">
              <a:solidFill>
                <a:srgbClr val="273239"/>
              </a:solidFill>
              <a:latin typeface="Nuni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6723" y="1564243"/>
            <a:ext cx="114109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AI systems need large amounts of data, which can create concerns about privacy and data security.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Bias in training data can lead to unfair or discriminatory decisions.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Lack of transparency makes it difficult to understand how some AI models make decisions.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Automation can lead to job displacement in certain sectors, requiring reskilling of workers.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73239"/>
                </a:solidFill>
                <a:latin typeface="Nunito"/>
              </a:rPr>
              <a:t>Use of AI in sensitive areas raises ethical concerns and requires responsible development.</a:t>
            </a:r>
          </a:p>
        </p:txBody>
      </p:sp>
    </p:spTree>
    <p:extLst>
      <p:ext uri="{BB962C8B-B14F-4D97-AF65-F5344CB8AC3E}">
        <p14:creationId xmlns:p14="http://schemas.microsoft.com/office/powerpoint/2010/main" val="326521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3D1F7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1" y="1594842"/>
            <a:ext cx="110109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/>
              <a:t> </a:t>
            </a:r>
          </a:p>
          <a:p>
            <a:pPr marL="380990" indent="-380990" algn="just" fontAlgn="base">
              <a:buFont typeface="Arial" panose="020B0604020202020204" pitchFamily="34" charset="0"/>
              <a:buChar char="•"/>
            </a:pPr>
            <a:r>
              <a:rPr lang="en-US" sz="2400" dirty="0"/>
              <a:t>Used in healthcare for early diagnosis and treatment recommendations using medical data.</a:t>
            </a:r>
          </a:p>
          <a:p>
            <a:pPr marL="380990" indent="-380990" algn="just" fontAlgn="base">
              <a:buFont typeface="Arial" panose="020B0604020202020204" pitchFamily="34" charset="0"/>
              <a:buChar char="•"/>
            </a:pPr>
            <a:r>
              <a:rPr lang="en-US" sz="2400" dirty="0"/>
              <a:t>Applied in retail to personalize shopping and manage inventory efficiently.</a:t>
            </a:r>
          </a:p>
          <a:p>
            <a:pPr marL="380990" indent="-380990" algn="just" fontAlgn="base">
              <a:buFont typeface="Arial" panose="020B0604020202020204" pitchFamily="34" charset="0"/>
              <a:buChar char="•"/>
            </a:pPr>
            <a:r>
              <a:rPr lang="en-US" sz="2400" dirty="0"/>
              <a:t>Used in customer service through </a:t>
            </a:r>
            <a:r>
              <a:rPr lang="en-US" sz="2400" dirty="0" err="1"/>
              <a:t>chatbots</a:t>
            </a:r>
            <a:r>
              <a:rPr lang="en-US" sz="2400" dirty="0"/>
              <a:t> for 24/7 support and faster responses.</a:t>
            </a:r>
          </a:p>
          <a:p>
            <a:pPr marL="380990" indent="-380990" algn="just" fontAlgn="base">
              <a:buFont typeface="Arial" panose="020B0604020202020204" pitchFamily="34" charset="0"/>
              <a:buChar char="•"/>
            </a:pPr>
            <a:r>
              <a:rPr lang="en-US" sz="2400" dirty="0"/>
              <a:t>Improves manufacturing by predicting maintenance and optimizing production.</a:t>
            </a:r>
          </a:p>
          <a:p>
            <a:pPr marL="380990" indent="-380990" algn="just" fontAlgn="base">
              <a:buFont typeface="Arial" panose="020B0604020202020204" pitchFamily="34" charset="0"/>
              <a:buChar char="•"/>
            </a:pPr>
            <a:r>
              <a:rPr lang="en-US" sz="2400" dirty="0"/>
              <a:t>Applied in finance for fraud detection, risk analysis and investment support.</a:t>
            </a:r>
          </a:p>
          <a:p>
            <a:pPr marL="380990" indent="-380990" algn="ctr" fontAlgn="base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73239"/>
              </a:solidFill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118567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381</Words>
  <Application>Microsoft Office PowerPoint</Application>
  <PresentationFormat>Widescreen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Nunito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</cp:revision>
  <dcterms:created xsi:type="dcterms:W3CDTF">2026-05-29T01:10:22Z</dcterms:created>
  <dcterms:modified xsi:type="dcterms:W3CDTF">2026-05-29T02:06:31Z</dcterms:modified>
</cp:coreProperties>
</file>