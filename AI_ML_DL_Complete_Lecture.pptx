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3D1F7C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474720"/>
            <a:ext cx="3200400" cy="3200400"/>
          </a:xfrm>
          <a:prstGeom prst="ellipse">
            <a:avLst/>
          </a:prstGeom>
          <a:solidFill>
            <a:srgbClr val="7B5EB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0"/>
            <a:ext cx="1828800" cy="1828800"/>
          </a:xfrm>
          <a:prstGeom prst="ellipse">
            <a:avLst/>
          </a:prstGeom>
          <a:solidFill>
            <a:srgbClr val="F5C842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754880"/>
            <a:ext cx="3044952" cy="388620"/>
          </a:xfrm>
          <a:prstGeom prst="rect">
            <a:avLst/>
          </a:prstGeom>
          <a:solidFill>
            <a:srgbClr val="3D1F7C"/>
          </a:solidFill>
          <a:ln/>
        </p:spPr>
      </p:sp>
      <p:sp>
        <p:nvSpPr>
          <p:cNvPr id="6" name="Shape 4"/>
          <p:cNvSpPr/>
          <p:nvPr/>
        </p:nvSpPr>
        <p:spPr>
          <a:xfrm>
            <a:off x="3044952" y="4754880"/>
            <a:ext cx="3044952" cy="388620"/>
          </a:xfrm>
          <a:prstGeom prst="rect">
            <a:avLst/>
          </a:prstGeom>
          <a:solidFill>
            <a:srgbClr val="0D6EBD"/>
          </a:solidFill>
          <a:ln/>
        </p:spPr>
      </p:sp>
      <p:sp>
        <p:nvSpPr>
          <p:cNvPr id="7" name="Shape 5"/>
          <p:cNvSpPr/>
          <p:nvPr/>
        </p:nvSpPr>
        <p:spPr>
          <a:xfrm>
            <a:off x="6089904" y="4754880"/>
            <a:ext cx="3044952" cy="388620"/>
          </a:xfrm>
          <a:prstGeom prst="rect">
            <a:avLst/>
          </a:prstGeom>
          <a:solidFill>
            <a:srgbClr val="1B7A4E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4754880"/>
            <a:ext cx="3044952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Artificial Intelligence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44952" y="4754880"/>
            <a:ext cx="3044952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89904" y="4754880"/>
            <a:ext cx="3054096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Learning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548640"/>
            <a:ext cx="78638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• Machine Learning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Deep Learning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Complete Student Lecture — Foundations to Frontiers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A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Alan Turing to ChatGPT — understand the technology shaping our world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Will Cover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88920" cy="3840480"/>
          </a:xfrm>
          <a:prstGeom prst="rect">
            <a:avLst/>
          </a:prstGeom>
          <a:solidFill>
            <a:srgbClr val="EDE7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788920" cy="502920"/>
          </a:xfrm>
          <a:prstGeom prst="rect">
            <a:avLst/>
          </a:prstGeom>
          <a:solidFill>
            <a:srgbClr val="3D1F7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🤖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1F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Artificial Intelligence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308152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History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4290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Branches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77647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Turing Test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412394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AI Types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447141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Ethics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1051560"/>
            <a:ext cx="2788920" cy="3840480"/>
          </a:xfrm>
          <a:prstGeom prst="rect">
            <a:avLst/>
          </a:prstGeom>
          <a:solidFill>
            <a:srgbClr val="E0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051560"/>
            <a:ext cx="2788920" cy="502920"/>
          </a:xfrm>
          <a:prstGeom prst="rect">
            <a:avLst/>
          </a:prstGeom>
          <a:solidFill>
            <a:srgbClr val="0D6EBD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1051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46120" y="160020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📊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3337560" y="25146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6E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83280" y="308152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Types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34290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Algorithms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377647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Workflow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412394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Evaluation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447141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Tools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1051560"/>
            <a:ext cx="2788920" cy="38404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051560"/>
            <a:ext cx="2788920" cy="502920"/>
          </a:xfrm>
          <a:prstGeom prst="rect">
            <a:avLst/>
          </a:prstGeom>
          <a:solidFill>
            <a:srgbClr val="1B7A4E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1051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160020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🧠</a:t>
            </a:r>
            <a:endParaRPr lang="en-US" sz="4600" dirty="0"/>
          </a:p>
        </p:txBody>
      </p:sp>
      <p:sp>
        <p:nvSpPr>
          <p:cNvPr id="28" name="Text 26"/>
          <p:cNvSpPr/>
          <p:nvPr/>
        </p:nvSpPr>
        <p:spPr>
          <a:xfrm>
            <a:off x="6309360" y="25146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7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55080" y="308152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Neural Networks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55080" y="34290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Architectures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55080" y="377647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Training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55080" y="412394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Applications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1828800"/>
            <a:ext cx="4572000" cy="4572000"/>
          </a:xfrm>
          <a:prstGeom prst="ellipse">
            <a:avLst/>
          </a:prstGeom>
          <a:solidFill>
            <a:srgbClr val="3D1F7C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7B5EBF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Artificial</a:t>
            </a:r>
            <a:endParaRPr lang="en-US" sz="5800" dirty="0"/>
          </a:p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Intelligence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BA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 · History · Branches · Types · Ethics &amp; Future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D1F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Artificial Intelligence?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822960"/>
          </a:xfrm>
          <a:prstGeom prst="rect">
            <a:avLst/>
          </a:prstGeom>
          <a:solidFill>
            <a:srgbClr val="3D1F7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"The science and engineering of making intelligent machines, especially intelligent computer programs." — John McCarthy, 1956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965960"/>
            <a:ext cx="20116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965960"/>
            <a:ext cx="2011680" cy="54864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2029968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👁️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93192" y="2788920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1F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Perceive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324612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senses the world — vision, speech, text, sensor data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68880" y="1965960"/>
            <a:ext cx="20116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965960"/>
            <a:ext cx="2011680" cy="54864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2029968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542032" y="2788920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1F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60320" y="324612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Processes information, draws conclusions, solves problems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1965960"/>
            <a:ext cx="20116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965960"/>
            <a:ext cx="2011680" cy="54864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2029968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📚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690872" y="2788920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1F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09160" y="324612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Improves performance from experience without reprogramming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66560" y="1965960"/>
            <a:ext cx="20116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0" y="1965960"/>
            <a:ext cx="2011680" cy="54864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2029968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839712" y="2788920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1F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58000" y="324612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Makes decisions, controls robots, generates outputs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D1F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Brief History of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8229600" cy="0"/>
          </a:xfrm>
          <a:prstGeom prst="line">
            <a:avLst/>
          </a:prstGeom>
          <a:noFill/>
          <a:ln w="38100">
            <a:solidFill>
              <a:srgbClr val="3D1F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1289304"/>
            <a:ext cx="256032" cy="256032"/>
          </a:xfrm>
          <a:prstGeom prst="ellipse">
            <a:avLst/>
          </a:prstGeom>
          <a:solidFill>
            <a:srgbClr val="F5C842"/>
          </a:solidFill>
          <a:ln w="25400">
            <a:solidFill>
              <a:srgbClr val="3D1F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45336"/>
            <a:ext cx="0" cy="320040"/>
          </a:xfrm>
          <a:prstGeom prst="line">
            <a:avLst/>
          </a:prstGeom>
          <a:noFill/>
          <a:ln w="12700">
            <a:solidFill>
              <a:srgbClr val="E8EC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-45720" y="117043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1F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1950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-64008" y="1463040"/>
            <a:ext cx="12252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Turing Test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27632" y="1289304"/>
            <a:ext cx="256032" cy="256032"/>
          </a:xfrm>
          <a:prstGeom prst="ellipse">
            <a:avLst/>
          </a:prstGeom>
          <a:solidFill>
            <a:srgbClr val="F5C842"/>
          </a:solidFill>
          <a:ln w="25400">
            <a:solidFill>
              <a:srgbClr val="3D1F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55648" y="1545336"/>
            <a:ext cx="0" cy="320040"/>
          </a:xfrm>
          <a:prstGeom prst="line">
            <a:avLst/>
          </a:prstGeom>
          <a:noFill/>
          <a:ln w="12700">
            <a:solidFill>
              <a:srgbClr val="E8EC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117043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1F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1956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1463040"/>
            <a:ext cx="12252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'AI' term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coined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80360" y="1289304"/>
            <a:ext cx="256032" cy="256032"/>
          </a:xfrm>
          <a:prstGeom prst="ellipse">
            <a:avLst/>
          </a:prstGeom>
          <a:solidFill>
            <a:srgbClr val="F5C842"/>
          </a:solidFill>
          <a:ln w="25400">
            <a:solidFill>
              <a:srgbClr val="3D1F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08376" y="1545336"/>
            <a:ext cx="0" cy="320040"/>
          </a:xfrm>
          <a:prstGeom prst="line">
            <a:avLst/>
          </a:prstGeom>
          <a:noFill/>
          <a:ln w="12700">
            <a:solidFill>
              <a:srgbClr val="E8EC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9736" y="117043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1F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1980s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41448" y="1463040"/>
            <a:ext cx="12252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Systems era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33088" y="1289304"/>
            <a:ext cx="256032" cy="256032"/>
          </a:xfrm>
          <a:prstGeom prst="ellipse">
            <a:avLst/>
          </a:prstGeom>
          <a:solidFill>
            <a:srgbClr val="F5C842"/>
          </a:solidFill>
          <a:ln w="25400">
            <a:solidFill>
              <a:srgbClr val="3D1F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61104" y="1545336"/>
            <a:ext cx="0" cy="320040"/>
          </a:xfrm>
          <a:prstGeom prst="line">
            <a:avLst/>
          </a:prstGeom>
          <a:noFill/>
          <a:ln w="12700">
            <a:solidFill>
              <a:srgbClr val="E8EC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12464" y="117043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1F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1997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94176" y="1463040"/>
            <a:ext cx="12252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Blue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beats Kasparov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85816" y="2505456"/>
            <a:ext cx="256032" cy="256032"/>
          </a:xfrm>
          <a:prstGeom prst="ellipse">
            <a:avLst/>
          </a:prstGeom>
          <a:solidFill>
            <a:srgbClr val="F5C842"/>
          </a:solidFill>
          <a:ln w="25400">
            <a:solidFill>
              <a:srgbClr val="3D1F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13832" y="2505456"/>
            <a:ext cx="0" cy="173736"/>
          </a:xfrm>
          <a:prstGeom prst="line">
            <a:avLst/>
          </a:prstGeom>
          <a:noFill/>
          <a:ln w="12700">
            <a:solidFill>
              <a:srgbClr val="E8EC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304495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1F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46904" y="3337560"/>
            <a:ext cx="12252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AlexNet wins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ImageNet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38544" y="2505456"/>
            <a:ext cx="256032" cy="256032"/>
          </a:xfrm>
          <a:prstGeom prst="ellipse">
            <a:avLst/>
          </a:prstGeom>
          <a:solidFill>
            <a:srgbClr val="F5C842"/>
          </a:solidFill>
          <a:ln w="25400">
            <a:solidFill>
              <a:srgbClr val="3D1F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0" y="2505456"/>
            <a:ext cx="0" cy="173736"/>
          </a:xfrm>
          <a:prstGeom prst="line">
            <a:avLst/>
          </a:prstGeom>
          <a:noFill/>
          <a:ln w="12700">
            <a:solidFill>
              <a:srgbClr val="E8EC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04495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1F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99632" y="3337560"/>
            <a:ext cx="12252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AlphaGo beats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world champion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891272" y="2505456"/>
            <a:ext cx="256032" cy="256032"/>
          </a:xfrm>
          <a:prstGeom prst="ellipse">
            <a:avLst/>
          </a:prstGeom>
          <a:solidFill>
            <a:srgbClr val="F5C842"/>
          </a:solidFill>
          <a:ln w="25400">
            <a:solidFill>
              <a:srgbClr val="3D1F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19288" y="2505456"/>
            <a:ext cx="0" cy="173736"/>
          </a:xfrm>
          <a:prstGeom prst="line">
            <a:avLst/>
          </a:prstGeom>
          <a:noFill/>
          <a:ln w="12700">
            <a:solidFill>
              <a:srgbClr val="E8EC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70648" y="304495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1F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52360" y="3337560"/>
            <a:ext cx="12252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ChatGPT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251960"/>
            <a:ext cx="8412480" cy="685800"/>
          </a:xfrm>
          <a:prstGeom prst="rect">
            <a:avLst/>
          </a:prstGeom>
          <a:solidFill>
            <a:srgbClr val="EDE7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" y="42793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Key Insight: AI has gone through multiple "winters" (funding cuts) and "summers" (breakthroughs). We are now in the most exciting AI summer in history, driven by big data, powerful GPUs, and transformer architectures.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D1F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Branches of Artificial Intelligence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88920" cy="1691640"/>
          </a:xfrm>
          <a:prstGeom prst="rect">
            <a:avLst/>
          </a:prstGeom>
          <a:solidFill>
            <a:srgbClr val="1E1040"/>
          </a:solidFill>
          <a:ln w="12700">
            <a:solidFill>
              <a:srgbClr val="7B5E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4300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📊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85623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A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Systems that learn from data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88920" cy="1691640"/>
          </a:xfrm>
          <a:prstGeom prst="rect">
            <a:avLst/>
          </a:prstGeom>
          <a:solidFill>
            <a:srgbClr val="1E1040"/>
          </a:solidFill>
          <a:ln w="12700">
            <a:solidFill>
              <a:srgbClr val="7B5E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14300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💬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337560" y="185623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 Language Processing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22402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A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 &amp; generating human language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051560"/>
            <a:ext cx="2788920" cy="1691640"/>
          </a:xfrm>
          <a:prstGeom prst="rect">
            <a:avLst/>
          </a:prstGeom>
          <a:solidFill>
            <a:srgbClr val="1E1040"/>
          </a:solidFill>
          <a:ln w="12700">
            <a:solidFill>
              <a:srgbClr val="7B5E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14300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👁️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309360" y="185623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Computer Vision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22402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A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Interpreting images and video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2788920" cy="1691640"/>
          </a:xfrm>
          <a:prstGeom prst="rect">
            <a:avLst/>
          </a:prstGeom>
          <a:solidFill>
            <a:srgbClr val="1E1040"/>
          </a:solidFill>
          <a:ln w="12700">
            <a:solidFill>
              <a:srgbClr val="7B5E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306324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🦾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65760" y="377647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Robotics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1605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A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AI agents that act in the world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971800"/>
            <a:ext cx="2788920" cy="1691640"/>
          </a:xfrm>
          <a:prstGeom prst="rect">
            <a:avLst/>
          </a:prstGeom>
          <a:solidFill>
            <a:srgbClr val="1E1040"/>
          </a:solidFill>
          <a:ln w="12700">
            <a:solidFill>
              <a:srgbClr val="7B5E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46120" y="306324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🧩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3337560" y="377647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Expert Systems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41605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A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Rule-based decision making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2971800"/>
            <a:ext cx="2788920" cy="1691640"/>
          </a:xfrm>
          <a:prstGeom prst="rect">
            <a:avLst/>
          </a:prstGeom>
          <a:solidFill>
            <a:srgbClr val="1E1040"/>
          </a:solidFill>
          <a:ln w="12700">
            <a:solidFill>
              <a:srgbClr val="7B5E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306324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🎨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309360" y="377647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Generative AI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41605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A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Creating text, images, audio, code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D1F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of AI — By Capability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788920" cy="397764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2788920" cy="594360"/>
          </a:xfrm>
          <a:prstGeom prst="rect">
            <a:avLst/>
          </a:prstGeom>
          <a:solidFill>
            <a:srgbClr val="0D6EBD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00584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664208"/>
            <a:ext cx="2606040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6642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EXISTS TODAY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99339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6E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Narrow AI (ANI)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" y="23774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Artificial Narrow Intelligence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2743200"/>
            <a:ext cx="2569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Excels at ONE specific task. Cannot generalise beyond its training.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611880"/>
            <a:ext cx="2606040" cy="1280160"/>
          </a:xfrm>
          <a:prstGeom prst="rect">
            <a:avLst/>
          </a:prstGeom>
          <a:solidFill>
            <a:srgbClr val="E8ECF4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" y="3657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1F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3192" y="391363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Siri, Chess engines, Spam filters, Face recognition, Google Translate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18688" y="1005840"/>
            <a:ext cx="2788920" cy="397764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18688" y="1005840"/>
            <a:ext cx="2788920" cy="594360"/>
          </a:xfrm>
          <a:prstGeom prst="rect">
            <a:avLst/>
          </a:prstGeom>
          <a:solidFill>
            <a:srgbClr val="7B5EBF"/>
          </a:solidFill>
          <a:ln/>
        </p:spPr>
      </p:sp>
      <p:sp>
        <p:nvSpPr>
          <p:cNvPr id="17" name="Text 15"/>
          <p:cNvSpPr/>
          <p:nvPr/>
        </p:nvSpPr>
        <p:spPr>
          <a:xfrm>
            <a:off x="3218688" y="100584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3310128" y="1664208"/>
            <a:ext cx="2606040" cy="2743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9" name="Text 17"/>
          <p:cNvSpPr/>
          <p:nvPr/>
        </p:nvSpPr>
        <p:spPr>
          <a:xfrm>
            <a:off x="3310128" y="16642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🔬 RESEARCH GOAL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0128" y="199339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B5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General AI (AGI)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310128" y="23774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Artificial General Intelligence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28416" y="2743200"/>
            <a:ext cx="2569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Human-level reasoning across all domains. Can learn anything a human can.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10128" y="3611880"/>
            <a:ext cx="2606040" cy="1280160"/>
          </a:xfrm>
          <a:prstGeom prst="rect">
            <a:avLst/>
          </a:prstGeom>
          <a:solidFill>
            <a:srgbClr val="E8ECF4"/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3657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1F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391363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Hypothetical — no AGI exists yet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08776" y="1005840"/>
            <a:ext cx="2788920" cy="397764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08776" y="1005840"/>
            <a:ext cx="2788920" cy="59436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8" name="Text 26"/>
          <p:cNvSpPr/>
          <p:nvPr/>
        </p:nvSpPr>
        <p:spPr>
          <a:xfrm>
            <a:off x="6208776" y="100584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🌌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6300216" y="1664208"/>
            <a:ext cx="2606040" cy="274320"/>
          </a:xfrm>
          <a:prstGeom prst="rect">
            <a:avLst/>
          </a:prstGeom>
          <a:solidFill>
            <a:srgbClr val="3D1F7C"/>
          </a:solidFill>
          <a:ln/>
        </p:spPr>
      </p:sp>
      <p:sp>
        <p:nvSpPr>
          <p:cNvPr id="30" name="Text 28"/>
          <p:cNvSpPr/>
          <p:nvPr/>
        </p:nvSpPr>
        <p:spPr>
          <a:xfrm>
            <a:off x="6300216" y="16642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🔮 HYPOTHETICAL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0216" y="199339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 AI (ASI)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300216" y="23774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Artificial Superintelligence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18504" y="2743200"/>
            <a:ext cx="2569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 surpasses human intelligence in every field — science, creativity, social skills.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00216" y="3611880"/>
            <a:ext cx="2606040" cy="1280160"/>
          </a:xfrm>
          <a:prstGeom prst="rect">
            <a:avLst/>
          </a:prstGeom>
          <a:solidFill>
            <a:srgbClr val="E8ECF4"/>
          </a:solidFill>
          <a:ln/>
        </p:spPr>
      </p:sp>
      <p:sp>
        <p:nvSpPr>
          <p:cNvPr id="35" name="Text 33"/>
          <p:cNvSpPr/>
          <p:nvPr/>
        </p:nvSpPr>
        <p:spPr>
          <a:xfrm>
            <a:off x="6373368" y="3657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1F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Examples: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73368" y="391363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Hypothetical — depicted in sci-fi films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D1F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Applications &amp; Ethical Concerns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457200"/>
          </a:xfrm>
          <a:prstGeom prst="rect">
            <a:avLst/>
          </a:prstGeom>
          <a:solidFill>
            <a:srgbClr val="3D1F7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🌍  Top AI Applications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🏥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6184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1F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Diagnosis, drug discovery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🚗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21488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1F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Vehicles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Self-driving, navigation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26791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1F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Virtual Assistants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889504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Siri, Alexa, ChatGPT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163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" y="32095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1F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Cybersecurity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419856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Threat detection, fraud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694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14400" y="37398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1F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395020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Personalised learning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4224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🏭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4400" y="42702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1F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Manufacturing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44805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maintenance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00584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005840"/>
            <a:ext cx="4114800" cy="45720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Ethical Concerns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92040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394960" y="16184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94960" y="18288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Mass surveillance and data collection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394960" y="21488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Bias &amp; Fairness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235915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Discriminatory algorithmic decisions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2040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💼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394960" y="26791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Job Displacement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94960" y="2889504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 replacing human roles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92040" y="3163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394960" y="32095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Autonomy &amp; Control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94960" y="3419856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Risks of autonomous AI systems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92040" y="3694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📰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394960" y="37398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Misinformation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394960" y="395020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Deepfakes, fake news generation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92040" y="4224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🌱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5394960" y="42702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Environmental Impact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394960" y="44805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Massive energy consumption of AI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286000"/>
            <a:ext cx="4572000" cy="4572000"/>
          </a:xfrm>
          <a:prstGeom prst="ellipse">
            <a:avLst/>
          </a:prstGeom>
          <a:solidFill>
            <a:srgbClr val="0D6EBD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26C6DA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6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6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0C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· Algorithms · Workflow · Evaluation · Tools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6EB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Machine Learning?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777240"/>
          </a:xfrm>
          <a:prstGeom prst="rect">
            <a:avLst/>
          </a:prstGeom>
          <a:solidFill>
            <a:srgbClr val="0D6EB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"Machine Learning is a subset of AI that enables systems to automatically learn and improve from experience WITHOUT being explicitly programmed."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42976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920240"/>
            <a:ext cx="4297680" cy="45720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 Programming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48716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write rules manually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05409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+ Rules → Output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62102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Brittle: breaks on new data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418795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 to scale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92040" y="1920240"/>
            <a:ext cx="42976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92040" y="1920240"/>
            <a:ext cx="4297680" cy="457200"/>
          </a:xfrm>
          <a:prstGeom prst="rect">
            <a:avLst/>
          </a:prstGeom>
          <a:solidFill>
            <a:srgbClr val="0D6EBD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74920" y="248716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 learns rules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74920" y="305409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+ Output → Rules (learned)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74920" y="362102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Generalises to new data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418795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Scales with more data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24528" y="3200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6C6DA"/>
                </a:solidFill>
              </a:rPr>
              <a:t>→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Types of Machine Learning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" y="1005840"/>
            <a:ext cx="2816352" cy="397764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1005840"/>
            <a:ext cx="2816352" cy="594360"/>
          </a:xfrm>
          <a:prstGeom prst="rect">
            <a:avLst/>
          </a:prstGeom>
          <a:solidFill>
            <a:srgbClr val="0D6EBD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" y="1005840"/>
            <a:ext cx="2816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🏷️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664208"/>
            <a:ext cx="2670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6E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Supervised Learning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0896" y="2148840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" y="2377440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Trained on labelled data (input+output pairs)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" y="2880360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Algorithms: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" y="3108960"/>
            <a:ext cx="25968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Regression · Logistic Regression · SVM · Decision Tree · Random Forest · KNN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0896" y="3822192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Applications: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" y="4041648"/>
            <a:ext cx="25968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6E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 spam · House prices · Image classification · Medical diagnosis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91256" y="1005840"/>
            <a:ext cx="2816352" cy="397764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91256" y="1005840"/>
            <a:ext cx="2816352" cy="594360"/>
          </a:xfrm>
          <a:prstGeom prst="rect">
            <a:avLst/>
          </a:prstGeom>
          <a:solidFill>
            <a:srgbClr val="26C6DA"/>
          </a:solidFill>
          <a:ln/>
        </p:spPr>
      </p:sp>
      <p:sp>
        <p:nvSpPr>
          <p:cNvPr id="16" name="Text 14"/>
          <p:cNvSpPr/>
          <p:nvPr/>
        </p:nvSpPr>
        <p:spPr>
          <a:xfrm>
            <a:off x="3191256" y="1005840"/>
            <a:ext cx="2816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264408" y="1664208"/>
            <a:ext cx="2670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C6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Unsupervised Learning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00984" y="2148840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00984" y="2377440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Finds hidden patterns in unlabelled data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00984" y="2880360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Algorithms: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00984" y="3108960"/>
            <a:ext cx="25968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K-Means · DBSCAN · PCA · Autoencoders · Apriori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00984" y="3822192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Applications: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00984" y="4041648"/>
            <a:ext cx="25968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6C6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segmentation · Anomaly detection · Recommendation · Topic modelling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81344" y="1005840"/>
            <a:ext cx="2816352" cy="397764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81344" y="1005840"/>
            <a:ext cx="2816352" cy="59436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26" name="Text 24"/>
          <p:cNvSpPr/>
          <p:nvPr/>
        </p:nvSpPr>
        <p:spPr>
          <a:xfrm>
            <a:off x="6181344" y="1005840"/>
            <a:ext cx="2816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🎮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254496" y="1664208"/>
            <a:ext cx="2670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Reinforcement Learning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91072" y="2148840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91072" y="2377440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learns by trial &amp; error with rewards/penalties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91072" y="2880360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Algorithms: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91072" y="3108960"/>
            <a:ext cx="25968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Q-Learning · SARSA · PPO · A3C · DQN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91072" y="3822192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Applications: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91072" y="4041648"/>
            <a:ext cx="25968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6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 AI · Self-driving · Robot control · Trading strategies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6EB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Machine Learning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170432" cy="1170432"/>
          </a:xfrm>
          <a:prstGeom prst="ellipse">
            <a:avLst/>
          </a:prstGeom>
          <a:solidFill>
            <a:srgbClr val="0D6EB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117043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📦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115568" y="1143000"/>
            <a:ext cx="274320" cy="27432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" y="1143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2450592"/>
            <a:ext cx="1353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0896" y="3035808"/>
            <a:ext cx="1115568" cy="320040"/>
          </a:xfrm>
          <a:prstGeom prst="rect">
            <a:avLst/>
          </a:prstGeom>
          <a:solidFill>
            <a:srgbClr val="0D6EBD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10896" y="3035808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6E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&gt; Quantity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44752" y="1773936"/>
            <a:ext cx="292608" cy="0"/>
          </a:xfrm>
          <a:prstGeom prst="line">
            <a:avLst/>
          </a:prstGeom>
          <a:noFill/>
          <a:ln w="25400">
            <a:solidFill>
              <a:srgbClr val="7B8A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0" y="1188720"/>
            <a:ext cx="1170432" cy="1170432"/>
          </a:xfrm>
          <a:prstGeom prst="ellipse">
            <a:avLst/>
          </a:prstGeom>
          <a:solidFill>
            <a:srgbClr val="0277B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737360" y="1188720"/>
            <a:ext cx="117043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🧹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2578608" y="1143000"/>
            <a:ext cx="274320" cy="27432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5" name="Text 13"/>
          <p:cNvSpPr/>
          <p:nvPr/>
        </p:nvSpPr>
        <p:spPr>
          <a:xfrm>
            <a:off x="2578608" y="1143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45920" y="2450592"/>
            <a:ext cx="1353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773936" y="3035808"/>
            <a:ext cx="1115568" cy="320040"/>
          </a:xfrm>
          <a:prstGeom prst="rect">
            <a:avLst/>
          </a:prstGeom>
          <a:solidFill>
            <a:srgbClr val="0277BD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773936" y="3035808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77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Handle nulls, outliers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07792" y="1773936"/>
            <a:ext cx="292608" cy="0"/>
          </a:xfrm>
          <a:prstGeom prst="line">
            <a:avLst/>
          </a:prstGeom>
          <a:noFill/>
          <a:ln w="25400">
            <a:solidFill>
              <a:srgbClr val="7B8A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1188720"/>
            <a:ext cx="1170432" cy="1170432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1188720"/>
            <a:ext cx="117043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⚙️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4041648" y="1143000"/>
            <a:ext cx="274320" cy="27432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3" name="Text 21"/>
          <p:cNvSpPr/>
          <p:nvPr/>
        </p:nvSpPr>
        <p:spPr>
          <a:xfrm>
            <a:off x="4041648" y="1143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108960" y="2450592"/>
            <a:ext cx="1353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36976" y="3035808"/>
            <a:ext cx="1115568" cy="320040"/>
          </a:xfrm>
          <a:prstGeom prst="rect">
            <a:avLst/>
          </a:prstGeom>
          <a:solidFill>
            <a:srgbClr val="00838F">
              <a:alpha val="3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236976" y="3035808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83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impactful step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70832" y="1773936"/>
            <a:ext cx="292608" cy="0"/>
          </a:xfrm>
          <a:prstGeom prst="line">
            <a:avLst/>
          </a:prstGeom>
          <a:noFill/>
          <a:ln w="25400">
            <a:solidFill>
              <a:srgbClr val="7B8A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1188720"/>
            <a:ext cx="1170432" cy="1170432"/>
          </a:xfrm>
          <a:prstGeom prst="ellipse">
            <a:avLst/>
          </a:prstGeom>
          <a:solidFill>
            <a:srgbClr val="FF6B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63440" y="1188720"/>
            <a:ext cx="117043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30" name="Shape 28"/>
          <p:cNvSpPr/>
          <p:nvPr/>
        </p:nvSpPr>
        <p:spPr>
          <a:xfrm>
            <a:off x="5504688" y="1143000"/>
            <a:ext cx="274320" cy="27432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1" name="Text 29"/>
          <p:cNvSpPr/>
          <p:nvPr/>
        </p:nvSpPr>
        <p:spPr>
          <a:xfrm>
            <a:off x="5504688" y="1143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0" y="2450592"/>
            <a:ext cx="1353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00016" y="3035808"/>
            <a:ext cx="1115568" cy="320040"/>
          </a:xfrm>
          <a:prstGeom prst="rect">
            <a:avLst/>
          </a:prstGeom>
          <a:solidFill>
            <a:srgbClr val="FF6B4A">
              <a:alpha val="3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700016" y="3035808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algorithm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833872" y="1773936"/>
            <a:ext cx="292608" cy="0"/>
          </a:xfrm>
          <a:prstGeom prst="line">
            <a:avLst/>
          </a:prstGeom>
          <a:noFill/>
          <a:ln w="25400">
            <a:solidFill>
              <a:srgbClr val="7B8AA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0" y="1188720"/>
            <a:ext cx="1170432" cy="1170432"/>
          </a:xfrm>
          <a:prstGeom prst="ellipse">
            <a:avLst/>
          </a:prstGeom>
          <a:solidFill>
            <a:srgbClr val="C628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126480" y="1188720"/>
            <a:ext cx="117043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📏</a:t>
            </a:r>
            <a:endParaRPr lang="en-US" sz="3200" dirty="0"/>
          </a:p>
        </p:txBody>
      </p:sp>
      <p:sp>
        <p:nvSpPr>
          <p:cNvPr id="38" name="Shape 36"/>
          <p:cNvSpPr/>
          <p:nvPr/>
        </p:nvSpPr>
        <p:spPr>
          <a:xfrm>
            <a:off x="6967728" y="1143000"/>
            <a:ext cx="274320" cy="27432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9" name="Text 37"/>
          <p:cNvSpPr/>
          <p:nvPr/>
        </p:nvSpPr>
        <p:spPr>
          <a:xfrm>
            <a:off x="6967728" y="1143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35040" y="2450592"/>
            <a:ext cx="1353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63056" y="3035808"/>
            <a:ext cx="1115568" cy="320040"/>
          </a:xfrm>
          <a:prstGeom prst="rect">
            <a:avLst/>
          </a:prstGeom>
          <a:solidFill>
            <a:srgbClr val="C62828">
              <a:alpha val="3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163056" y="3035808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Accuracy, F1, AUC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296912" y="1773936"/>
            <a:ext cx="292608" cy="0"/>
          </a:xfrm>
          <a:prstGeom prst="line">
            <a:avLst/>
          </a:prstGeom>
          <a:noFill/>
          <a:ln w="25400">
            <a:solidFill>
              <a:srgbClr val="7B8AA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89520" y="1188720"/>
            <a:ext cx="1170432" cy="1170432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589520" y="1188720"/>
            <a:ext cx="117043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🚀</a:t>
            </a:r>
            <a:endParaRPr lang="en-US" sz="3200" dirty="0"/>
          </a:p>
        </p:txBody>
      </p:sp>
      <p:sp>
        <p:nvSpPr>
          <p:cNvPr id="46" name="Shape 44"/>
          <p:cNvSpPr/>
          <p:nvPr/>
        </p:nvSpPr>
        <p:spPr>
          <a:xfrm>
            <a:off x="8430768" y="1143000"/>
            <a:ext cx="274320" cy="27432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47" name="Text 45"/>
          <p:cNvSpPr/>
          <p:nvPr/>
        </p:nvSpPr>
        <p:spPr>
          <a:xfrm>
            <a:off x="8430768" y="1143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498080" y="2450592"/>
            <a:ext cx="1353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626096" y="3035808"/>
            <a:ext cx="1115568" cy="320040"/>
          </a:xfrm>
          <a:prstGeom prst="rect">
            <a:avLst/>
          </a:prstGeom>
          <a:solidFill>
            <a:srgbClr val="2E7D32">
              <a:alpha val="3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7626096" y="3035808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ready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65760" y="3520440"/>
            <a:ext cx="8412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48640" y="35844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6E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Key Evaluation Metrics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48640" y="395020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E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Accuracy: 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508760" y="39502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% correct predictions overall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429000" y="395020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E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Precision: 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389120" y="39502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predicted positives, how many are right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309360" y="395020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E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Recall: 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269480" y="39502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actual positives, how many found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48640" y="43891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E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 Score: 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508760" y="4389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Harmonic mean of Precision &amp; Recall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429000" y="43891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E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AUC-ROC: 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389120" y="4389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Model's ability to distinguish classes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Ecosystem — Tools &amp; Frameworks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011680" cy="173736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2011680" cy="411480"/>
          </a:xfrm>
          <a:prstGeom prst="rect">
            <a:avLst/>
          </a:prstGeom>
          <a:solidFill>
            <a:srgbClr val="3572A5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051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527048"/>
            <a:ext cx="1828800" cy="256032"/>
          </a:xfrm>
          <a:prstGeom prst="rect">
            <a:avLst/>
          </a:prstGeom>
          <a:solidFill>
            <a:srgbClr val="3572A5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527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72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Language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87452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standard for ML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23160" y="1051560"/>
            <a:ext cx="2011680" cy="173736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1051560"/>
            <a:ext cx="2011680" cy="411480"/>
          </a:xfrm>
          <a:prstGeom prst="rect">
            <a:avLst/>
          </a:prstGeom>
          <a:solidFill>
            <a:srgbClr val="013243"/>
          </a:solidFill>
          <a:ln/>
        </p:spPr>
      </p:sp>
      <p:sp>
        <p:nvSpPr>
          <p:cNvPr id="12" name="Text 10"/>
          <p:cNvSpPr/>
          <p:nvPr/>
        </p:nvSpPr>
        <p:spPr>
          <a:xfrm>
            <a:off x="2423160" y="1051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NumPy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14600" y="1527048"/>
            <a:ext cx="1828800" cy="256032"/>
          </a:xfrm>
          <a:prstGeom prst="rect">
            <a:avLst/>
          </a:prstGeom>
          <a:solidFill>
            <a:srgbClr val="013243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1527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132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Numerical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14600" y="187452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Array operations, linear algebra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1051560"/>
            <a:ext cx="2011680" cy="173736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051560"/>
            <a:ext cx="2011680" cy="411480"/>
          </a:xfrm>
          <a:prstGeom prst="rect">
            <a:avLst/>
          </a:prstGeom>
          <a:solidFill>
            <a:srgbClr val="150458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1051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Pandas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09160" y="1527048"/>
            <a:ext cx="1828800" cy="256032"/>
          </a:xfrm>
          <a:prstGeom prst="rect">
            <a:avLst/>
          </a:prstGeom>
          <a:solidFill>
            <a:srgbClr val="150458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1527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04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187452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DataFrames, EDA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12280" y="1051560"/>
            <a:ext cx="2011680" cy="173736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12280" y="1051560"/>
            <a:ext cx="2011680" cy="411480"/>
          </a:xfrm>
          <a:prstGeom prst="rect">
            <a:avLst/>
          </a:prstGeom>
          <a:solidFill>
            <a:srgbClr val="11557C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1051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903720" y="1527048"/>
            <a:ext cx="1828800" cy="256032"/>
          </a:xfrm>
          <a:prstGeom prst="rect">
            <a:avLst/>
          </a:prstGeom>
          <a:solidFill>
            <a:srgbClr val="11557C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903720" y="1527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55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Visualise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03720" y="187452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Charts &amp; plots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28600" y="2971800"/>
            <a:ext cx="2011680" cy="173736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2971800"/>
            <a:ext cx="2011680" cy="411480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30" name="Text 28"/>
          <p:cNvSpPr/>
          <p:nvPr/>
        </p:nvSpPr>
        <p:spPr>
          <a:xfrm>
            <a:off x="228600" y="2971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20040" y="3447288"/>
            <a:ext cx="1828800" cy="256032"/>
          </a:xfrm>
          <a:prstGeom prst="rect">
            <a:avLst/>
          </a:prstGeom>
          <a:solidFill>
            <a:srgbClr val="F7931E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3447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93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Classical ML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" y="379476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100+ ML algorithms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423160" y="2971800"/>
            <a:ext cx="2011680" cy="173736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423160" y="2971800"/>
            <a:ext cx="2011680" cy="411480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36" name="Text 34"/>
          <p:cNvSpPr/>
          <p:nvPr/>
        </p:nvSpPr>
        <p:spPr>
          <a:xfrm>
            <a:off x="2423160" y="2971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XGBoost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2514600" y="3447288"/>
            <a:ext cx="1828800" cy="256032"/>
          </a:xfrm>
          <a:prstGeom prst="rect">
            <a:avLst/>
          </a:prstGeom>
          <a:solidFill>
            <a:srgbClr val="007ACC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2514600" y="3447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Boosting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514600" y="379476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Gradient boosting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617720" y="2971800"/>
            <a:ext cx="2011680" cy="173736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17720" y="2971800"/>
            <a:ext cx="2011680" cy="411480"/>
          </a:xfrm>
          <a:prstGeom prst="rect">
            <a:avLst/>
          </a:prstGeom>
          <a:solidFill>
            <a:srgbClr val="F37626"/>
          </a:solidFill>
          <a:ln/>
        </p:spPr>
      </p:sp>
      <p:sp>
        <p:nvSpPr>
          <p:cNvPr id="42" name="Text 40"/>
          <p:cNvSpPr/>
          <p:nvPr/>
        </p:nvSpPr>
        <p:spPr>
          <a:xfrm>
            <a:off x="4617720" y="2971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Jupyter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709160" y="3447288"/>
            <a:ext cx="1828800" cy="256032"/>
          </a:xfrm>
          <a:prstGeom prst="rect">
            <a:avLst/>
          </a:prstGeom>
          <a:solidFill>
            <a:srgbClr val="F37626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709160" y="3447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7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Notebook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09160" y="379476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development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812280" y="2971800"/>
            <a:ext cx="2011680" cy="173736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812280" y="2971800"/>
            <a:ext cx="2011680" cy="411480"/>
          </a:xfrm>
          <a:prstGeom prst="rect">
            <a:avLst/>
          </a:prstGeom>
          <a:solidFill>
            <a:srgbClr val="0194E2"/>
          </a:solidFill>
          <a:ln/>
        </p:spPr>
      </p:sp>
      <p:sp>
        <p:nvSpPr>
          <p:cNvPr id="48" name="Text 46"/>
          <p:cNvSpPr/>
          <p:nvPr/>
        </p:nvSpPr>
        <p:spPr>
          <a:xfrm>
            <a:off x="6812280" y="2971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MLflow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903720" y="3447288"/>
            <a:ext cx="1828800" cy="256032"/>
          </a:xfrm>
          <a:prstGeom prst="rect">
            <a:avLst/>
          </a:prstGeom>
          <a:solidFill>
            <a:srgbClr val="0194E2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903720" y="3447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194E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MLOps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903720" y="379476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experiments &amp; models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1828800"/>
            <a:ext cx="4572000" cy="4572000"/>
          </a:xfrm>
          <a:prstGeom prst="ellipse">
            <a:avLst/>
          </a:prstGeom>
          <a:solidFill>
            <a:srgbClr val="1B7A4E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43B87D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</a:t>
            </a:r>
            <a:endParaRPr lang="en-US" sz="6200" dirty="0"/>
          </a:p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D5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Neural Networks · Architectures · Training · State of the Art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7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Deep Learning?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777240"/>
          </a:xfrm>
          <a:prstGeom prst="rect">
            <a:avLst/>
          </a:prstGeom>
          <a:solidFill>
            <a:srgbClr val="1B7A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"Deep Learning uses multi-layered artificial neural networks inspired by the human brain to learn representations directly from raw data — no manual feature engineering needed."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4023360" cy="3017520"/>
          </a:xfrm>
          <a:prstGeom prst="ellipse">
            <a:avLst/>
          </a:prstGeom>
          <a:solidFill>
            <a:srgbClr val="C8E6C9"/>
          </a:solidFill>
          <a:ln w="25400">
            <a:solidFill>
              <a:srgbClr val="1B7A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240280"/>
            <a:ext cx="3108960" cy="2286000"/>
          </a:xfrm>
          <a:prstGeom prst="ellipse">
            <a:avLst/>
          </a:prstGeom>
          <a:solidFill>
            <a:srgbClr val="A5D6A7"/>
          </a:solidFill>
          <a:ln w="25400">
            <a:solidFill>
              <a:srgbClr val="0D6E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2606040"/>
            <a:ext cx="2194560" cy="1554480"/>
          </a:xfrm>
          <a:prstGeom prst="ellipse">
            <a:avLst/>
          </a:prstGeom>
          <a:solidFill>
            <a:srgbClr val="43B87D"/>
          </a:solidFill>
          <a:ln w="25400">
            <a:solidFill>
              <a:srgbClr val="0D2B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0195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1F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Artificial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D1F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267712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6E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6E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54480" y="3063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874520"/>
          <a:ext cx="4297680" cy="3017520"/>
        </p:xfrm>
        <a:graphic>
          <a:graphicData uri="http://schemas.openxmlformats.org/drawingml/2006/table">
            <a:tbl>
              <a:tblPr/>
              <a:tblGrid>
                <a:gridCol w="1463040"/>
                <a:gridCol w="1417320"/>
                <a:gridCol w="1417320"/>
              </a:tblGrid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Classical ML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Deep Learning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4E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7A4E"/>
                          </a:solidFill>
                        </a:rPr>
                        <a:t>Data needed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Small–Medium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Very Large (millions)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7A4E"/>
                          </a:solidFill>
                        </a:rPr>
                        <a:t>Feature Engineering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Manual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Automatic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7A4E"/>
                          </a:solidFill>
                        </a:rPr>
                        <a:t>Hardware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CPU fine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GPU / TPU required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7A4E"/>
                          </a:solidFill>
                        </a:rPr>
                        <a:t>Interpretability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Low (black box)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7A4E"/>
                          </a:solidFill>
                        </a:rPr>
                        <a:t>Training time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Minutes–hours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Hours–days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7A4E"/>
                          </a:solidFill>
                        </a:rPr>
                        <a:t>Performance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Good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State-of-the-art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Inside a Neural Network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2788920" cy="18288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24128"/>
            <a:ext cx="54864" cy="1828800"/>
          </a:xfrm>
          <a:prstGeom prst="rect">
            <a:avLst/>
          </a:prstGeom>
          <a:solidFill>
            <a:srgbClr val="1B7A4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155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87552" y="1115568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Neuron / Node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709928"/>
            <a:ext cx="25786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Receives weighted inputs, sums them, applies activation function, passes output forward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24128"/>
            <a:ext cx="2788920" cy="18288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24128"/>
            <a:ext cx="54864" cy="1828800"/>
          </a:xfrm>
          <a:prstGeom prst="rect">
            <a:avLst/>
          </a:prstGeom>
          <a:solidFill>
            <a:srgbClr val="1B7A4E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1155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959352" y="1115568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Weights &amp; Biases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1709928"/>
            <a:ext cx="25786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Learnable parameters. Weights scale input importance; bias shifts the activation threshold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024128"/>
            <a:ext cx="2788920" cy="18288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24128"/>
            <a:ext cx="54864" cy="1828800"/>
          </a:xfrm>
          <a:prstGeom prst="rect">
            <a:avLst/>
          </a:prstGeom>
          <a:solidFill>
            <a:srgbClr val="1B7A4E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1155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〽️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931152" y="1115568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Activation Functions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27648" y="1709928"/>
            <a:ext cx="25786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ReLU (most common), Sigmoid (0–1), Tanh (–1 to 1), Softmax (multi-class probabilities)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90088"/>
            <a:ext cx="2788920" cy="18288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90088"/>
            <a:ext cx="54864" cy="1828800"/>
          </a:xfrm>
          <a:prstGeom prst="rect">
            <a:avLst/>
          </a:prstGeom>
          <a:solidFill>
            <a:srgbClr val="1B7A4E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0815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→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87552" y="3081528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 Pass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" y="3675888"/>
            <a:ext cx="25786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flows input→hidden→output, producing a prediction. One pass per training sample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2990088"/>
            <a:ext cx="2788920" cy="18288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990088"/>
            <a:ext cx="54864" cy="1828800"/>
          </a:xfrm>
          <a:prstGeom prst="rect">
            <a:avLst/>
          </a:prstGeom>
          <a:solidFill>
            <a:srgbClr val="1B7A4E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30815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📉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959352" y="3081528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Loss Function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55848" y="3675888"/>
            <a:ext cx="25786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Measures prediction error. MSE for regression; Cross-Entropy for classification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2990088"/>
            <a:ext cx="2788920" cy="18288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2990088"/>
            <a:ext cx="54864" cy="1828800"/>
          </a:xfrm>
          <a:prstGeom prst="rect">
            <a:avLst/>
          </a:prstGeom>
          <a:solidFill>
            <a:srgbClr val="1B7A4E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30815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931152" y="3081528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Backpropagation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27648" y="3675888"/>
            <a:ext cx="25786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Computes gradients of loss w.r.t. weights using chain rule, enabling weight updates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7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Deep Learning Architectures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" y="1024128"/>
            <a:ext cx="4206240" cy="1828800"/>
          </a:xfrm>
          <a:prstGeom prst="rect">
            <a:avLst/>
          </a:prstGeom>
          <a:solidFill>
            <a:srgbClr val="0D2B1E"/>
          </a:solidFill>
          <a:ln w="12700">
            <a:solidFill>
              <a:srgbClr val="43B87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1024128"/>
            <a:ext cx="420624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102412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🖼️  CNN — Convolutional Neural Network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" y="1591056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How: Convolutional filters detect local features — edges → textures → objects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" y="212140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Image classification · Object detection · Medical imaging · Autonomous vehicles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81728" y="1024128"/>
            <a:ext cx="4206240" cy="1828800"/>
          </a:xfrm>
          <a:prstGeom prst="rect">
            <a:avLst/>
          </a:prstGeom>
          <a:solidFill>
            <a:srgbClr val="0D2B1E"/>
          </a:solidFill>
          <a:ln w="12700">
            <a:solidFill>
              <a:srgbClr val="43B87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1024128"/>
            <a:ext cx="4206240" cy="50292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11" name="Text 9"/>
          <p:cNvSpPr/>
          <p:nvPr/>
        </p:nvSpPr>
        <p:spPr>
          <a:xfrm>
            <a:off x="4773168" y="102412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🔁  RNN / LSTM — Recurrent Neural Network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73168" y="1591056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How: Hidden state carries memory across time steps; LSTM gates control information flow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212140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Machine translation · Speech recognition · Time series · Sentiment analysis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" y="3035808"/>
            <a:ext cx="4206240" cy="1828800"/>
          </a:xfrm>
          <a:prstGeom prst="rect">
            <a:avLst/>
          </a:prstGeom>
          <a:solidFill>
            <a:srgbClr val="0D2B1E"/>
          </a:solidFill>
          <a:ln w="12700">
            <a:solidFill>
              <a:srgbClr val="43B87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1168" y="3035808"/>
            <a:ext cx="4206240" cy="5029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" y="303580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 Transformer — Attention-based Architecture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" y="3602736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How: Self-attention weighs all token pairs simultaneously — no recurrence needed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" y="413308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GPT-4 · BERT · ChatGPT · DALL·E · Vision Transformers (ViT) · Code generation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81728" y="3035808"/>
            <a:ext cx="4206240" cy="1828800"/>
          </a:xfrm>
          <a:prstGeom prst="rect">
            <a:avLst/>
          </a:prstGeom>
          <a:solidFill>
            <a:srgbClr val="0D2B1E"/>
          </a:solidFill>
          <a:ln w="12700">
            <a:solidFill>
              <a:srgbClr val="43B87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81728" y="3035808"/>
            <a:ext cx="4206240" cy="50292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21" name="Text 19"/>
          <p:cNvSpPr/>
          <p:nvPr/>
        </p:nvSpPr>
        <p:spPr>
          <a:xfrm>
            <a:off x="4773168" y="303580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🎨  GAN — Generative Adversarial Network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73168" y="3602736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How: Generator vs Discriminator trained adversarially to create realistic data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73168" y="413308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Image synthesis · Video generation · Data augmentation · Deepfakes · Art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7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a Deep Learning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234440" cy="384048"/>
          </a:xfrm>
          <a:prstGeom prst="rect">
            <a:avLst/>
          </a:prstGeom>
          <a:solidFill>
            <a:srgbClr val="1B7A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91540" y="1481328"/>
            <a:ext cx="0" cy="320040"/>
          </a:xfrm>
          <a:prstGeom prst="line">
            <a:avLst/>
          </a:prstGeom>
          <a:noFill/>
          <a:ln w="25400">
            <a:solidFill>
              <a:srgbClr val="7B8A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801368"/>
            <a:ext cx="12344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82880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7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Initialise Weights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194560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small values for all weights &amp; biases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37360" y="1097280"/>
            <a:ext cx="1234440" cy="384048"/>
          </a:xfrm>
          <a:prstGeom prst="rect">
            <a:avLst/>
          </a:prstGeom>
          <a:solidFill>
            <a:srgbClr val="0277B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37360" y="10972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354580" y="1481328"/>
            <a:ext cx="0" cy="320040"/>
          </a:xfrm>
          <a:prstGeom prst="line">
            <a:avLst/>
          </a:prstGeom>
          <a:noFill/>
          <a:ln w="25400">
            <a:solidFill>
              <a:srgbClr val="7B8A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37360" y="1801368"/>
            <a:ext cx="12344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783080" y="182880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77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 Pass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3080" y="2194560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flows through network → prediction made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508760" y="1289304"/>
            <a:ext cx="228600" cy="0"/>
          </a:xfrm>
          <a:prstGeom prst="line">
            <a:avLst/>
          </a:prstGeom>
          <a:noFill/>
          <a:ln w="12700">
            <a:solidFill>
              <a:srgbClr val="7B8A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1097280"/>
            <a:ext cx="1234440" cy="384048"/>
          </a:xfrm>
          <a:prstGeom prst="rect">
            <a:avLst/>
          </a:prstGeom>
          <a:solidFill>
            <a:srgbClr val="C628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0" y="10972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817620" y="1481328"/>
            <a:ext cx="0" cy="320040"/>
          </a:xfrm>
          <a:prstGeom prst="line">
            <a:avLst/>
          </a:prstGeom>
          <a:noFill/>
          <a:ln w="25400">
            <a:solidFill>
              <a:srgbClr val="7B8A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1801368"/>
            <a:ext cx="12344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46120" y="182880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 Loss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46120" y="2194560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Compare prediction vs actual using loss function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971800" y="1289304"/>
            <a:ext cx="228600" cy="0"/>
          </a:xfrm>
          <a:prstGeom prst="line">
            <a:avLst/>
          </a:prstGeom>
          <a:noFill/>
          <a:ln w="12700">
            <a:solidFill>
              <a:srgbClr val="7B8A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1097280"/>
            <a:ext cx="1234440" cy="384048"/>
          </a:xfrm>
          <a:prstGeom prst="rect">
            <a:avLst/>
          </a:prstGeom>
          <a:solidFill>
            <a:srgbClr val="6A1B9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63440" y="10972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280660" y="1481328"/>
            <a:ext cx="0" cy="320040"/>
          </a:xfrm>
          <a:prstGeom prst="line">
            <a:avLst/>
          </a:prstGeom>
          <a:noFill/>
          <a:ln w="25400">
            <a:solidFill>
              <a:srgbClr val="7B8A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1801368"/>
            <a:ext cx="12344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09160" y="182880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Backpropagation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09160" y="2194560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Gradients computed via chain rule for all weights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434840" y="1289304"/>
            <a:ext cx="228600" cy="0"/>
          </a:xfrm>
          <a:prstGeom prst="line">
            <a:avLst/>
          </a:prstGeom>
          <a:noFill/>
          <a:ln w="12700">
            <a:solidFill>
              <a:srgbClr val="7B8A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1097280"/>
            <a:ext cx="1234440" cy="384048"/>
          </a:xfrm>
          <a:prstGeom prst="rect">
            <a:avLst/>
          </a:prstGeom>
          <a:solidFill>
            <a:srgbClr val="FFB30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26480" y="10972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743700" y="1481328"/>
            <a:ext cx="0" cy="320040"/>
          </a:xfrm>
          <a:prstGeom prst="line">
            <a:avLst/>
          </a:prstGeom>
          <a:noFill/>
          <a:ln w="25400">
            <a:solidFill>
              <a:srgbClr val="7B8AA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1801368"/>
            <a:ext cx="12344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172200" y="182880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 Weights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72200" y="2194560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Optimiser (Adam, SGD) adjusts weights by –η·∇L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897880" y="1289304"/>
            <a:ext cx="228600" cy="0"/>
          </a:xfrm>
          <a:prstGeom prst="line">
            <a:avLst/>
          </a:prstGeom>
          <a:noFill/>
          <a:ln w="12700">
            <a:solidFill>
              <a:srgbClr val="7B8AA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89520" y="1097280"/>
            <a:ext cx="1234440" cy="384048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589520" y="10972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206740" y="1481328"/>
            <a:ext cx="0" cy="320040"/>
          </a:xfrm>
          <a:prstGeom prst="line">
            <a:avLst/>
          </a:prstGeom>
          <a:noFill/>
          <a:ln w="25400">
            <a:solidFill>
              <a:srgbClr val="7B8AA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89520" y="1801368"/>
            <a:ext cx="12344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635240" y="182880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Repeat (Epochs)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635240" y="2194560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Repeat steps 2–5 thousands of times until convergence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60920" y="1289304"/>
            <a:ext cx="228600" cy="0"/>
          </a:xfrm>
          <a:prstGeom prst="line">
            <a:avLst/>
          </a:prstGeom>
          <a:noFill/>
          <a:ln w="12700">
            <a:solidFill>
              <a:srgbClr val="7B8AA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2926080"/>
            <a:ext cx="84124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48640" y="29718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🎛️  Key Hyperparameters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48640" y="33832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Learning Rate (η): 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874520" y="3383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big each weight update step is — too high diverges, too low is slow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754880" y="33832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Batch Size: 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080760" y="3383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Number of samples per gradient update — affects speed &amp; stability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48640" y="385876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Epochs: 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874520" y="38587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passes over the training dataset — too many = overfitting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754880" y="385876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Dropout: 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080760" y="38587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Randomly zero neurons during training to prevent overfitting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48640" y="433425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Optimiser: 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874520" y="4334256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Adam (default), SGD, RMSProp — controls gradient descent strategy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7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Deep Learning Applications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46888" y="1024128"/>
            <a:ext cx="2816352" cy="1828800"/>
          </a:xfrm>
          <a:prstGeom prst="rect">
            <a:avLst/>
          </a:prstGeom>
          <a:solidFill>
            <a:srgbClr val="0D2B1E"/>
          </a:solidFill>
          <a:ln w="12700">
            <a:solidFill>
              <a:srgbClr val="43B87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46888" y="1024128"/>
            <a:ext cx="2816352" cy="502920"/>
          </a:xfrm>
          <a:prstGeom prst="rect">
            <a:avLst/>
          </a:prstGeom>
          <a:solidFill>
            <a:srgbClr val="1B7A4E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24128"/>
            <a:ext cx="2670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👁️  Computer Vision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" y="1591056"/>
            <a:ext cx="263347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 detection · Face ID · Medical scans · Self-driving cars · Quality inspection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24128"/>
            <a:ext cx="2816352" cy="1828800"/>
          </a:xfrm>
          <a:prstGeom prst="rect">
            <a:avLst/>
          </a:prstGeom>
          <a:solidFill>
            <a:srgbClr val="0D2B1E"/>
          </a:solidFill>
          <a:ln w="12700">
            <a:solidFill>
              <a:srgbClr val="43B87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24128"/>
            <a:ext cx="2816352" cy="502920"/>
          </a:xfrm>
          <a:prstGeom prst="rect">
            <a:avLst/>
          </a:prstGeom>
          <a:solidFill>
            <a:srgbClr val="1B7A4E"/>
          </a:solidFill>
          <a:ln/>
        </p:spPr>
      </p:sp>
      <p:sp>
        <p:nvSpPr>
          <p:cNvPr id="10" name="Text 8"/>
          <p:cNvSpPr/>
          <p:nvPr/>
        </p:nvSpPr>
        <p:spPr>
          <a:xfrm>
            <a:off x="3319272" y="1024128"/>
            <a:ext cx="2670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Natural Language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591056"/>
            <a:ext cx="263347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ChatGPT · Google Translate · Text summarisation · Code generation · Sentiment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45352" y="1024128"/>
            <a:ext cx="2816352" cy="1828800"/>
          </a:xfrm>
          <a:prstGeom prst="rect">
            <a:avLst/>
          </a:prstGeom>
          <a:solidFill>
            <a:srgbClr val="0D2B1E"/>
          </a:solidFill>
          <a:ln w="12700">
            <a:solidFill>
              <a:srgbClr val="43B87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45352" y="1024128"/>
            <a:ext cx="2816352" cy="502920"/>
          </a:xfrm>
          <a:prstGeom prst="rect">
            <a:avLst/>
          </a:prstGeom>
          <a:solidFill>
            <a:srgbClr val="1B7A4E"/>
          </a:solidFill>
          <a:ln/>
        </p:spPr>
      </p:sp>
      <p:sp>
        <p:nvSpPr>
          <p:cNvPr id="14" name="Text 12"/>
          <p:cNvSpPr/>
          <p:nvPr/>
        </p:nvSpPr>
        <p:spPr>
          <a:xfrm>
            <a:off x="6318504" y="1024128"/>
            <a:ext cx="2670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🏥  Healthcare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36792" y="1591056"/>
            <a:ext cx="263347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Cancer detection · Drug discovery · Protein folding · Clinical notes · Radiology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6888" y="2990088"/>
            <a:ext cx="2816352" cy="1828800"/>
          </a:xfrm>
          <a:prstGeom prst="rect">
            <a:avLst/>
          </a:prstGeom>
          <a:solidFill>
            <a:srgbClr val="0D2B1E"/>
          </a:solidFill>
          <a:ln w="12700">
            <a:solidFill>
              <a:srgbClr val="43B87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6888" y="2990088"/>
            <a:ext cx="2816352" cy="502920"/>
          </a:xfrm>
          <a:prstGeom prst="rect">
            <a:avLst/>
          </a:prstGeom>
          <a:solidFill>
            <a:srgbClr val="1B7A4E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990088"/>
            <a:ext cx="2670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🎨  Generative AI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" y="3557016"/>
            <a:ext cx="263347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DALL·E · Stable Diffusion · MidJourney · Music generation · Video synthesis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46120" y="2990088"/>
            <a:ext cx="2816352" cy="1828800"/>
          </a:xfrm>
          <a:prstGeom prst="rect">
            <a:avLst/>
          </a:prstGeom>
          <a:solidFill>
            <a:srgbClr val="0D2B1E"/>
          </a:solidFill>
          <a:ln w="12700">
            <a:solidFill>
              <a:srgbClr val="43B87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990088"/>
            <a:ext cx="2816352" cy="502920"/>
          </a:xfrm>
          <a:prstGeom prst="rect">
            <a:avLst/>
          </a:prstGeom>
          <a:solidFill>
            <a:srgbClr val="1B7A4E"/>
          </a:solidFill>
          <a:ln/>
        </p:spPr>
      </p:sp>
      <p:sp>
        <p:nvSpPr>
          <p:cNvPr id="22" name="Text 20"/>
          <p:cNvSpPr/>
          <p:nvPr/>
        </p:nvSpPr>
        <p:spPr>
          <a:xfrm>
            <a:off x="3319272" y="2990088"/>
            <a:ext cx="2670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🔊  Audio &amp; Speech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37560" y="3557016"/>
            <a:ext cx="263347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Speech-to-text · Voice cloning · Music composition · Speaker identification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45352" y="2990088"/>
            <a:ext cx="2816352" cy="1828800"/>
          </a:xfrm>
          <a:prstGeom prst="rect">
            <a:avLst/>
          </a:prstGeom>
          <a:solidFill>
            <a:srgbClr val="0D2B1E"/>
          </a:solidFill>
          <a:ln w="12700">
            <a:solidFill>
              <a:srgbClr val="43B87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45352" y="2990088"/>
            <a:ext cx="2816352" cy="502920"/>
          </a:xfrm>
          <a:prstGeom prst="rect">
            <a:avLst/>
          </a:prstGeom>
          <a:solidFill>
            <a:srgbClr val="1B7A4E"/>
          </a:solidFill>
          <a:ln/>
        </p:spPr>
      </p:sp>
      <p:sp>
        <p:nvSpPr>
          <p:cNvPr id="26" name="Text 24"/>
          <p:cNvSpPr/>
          <p:nvPr/>
        </p:nvSpPr>
        <p:spPr>
          <a:xfrm>
            <a:off x="6318504" y="2990088"/>
            <a:ext cx="2670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🔬  Science &amp; Research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36792" y="3557016"/>
            <a:ext cx="263347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AlphaFold · Climate modelling · Particle physics · Astronomy · Materials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Roadmap &amp; Career Paths in AI/ML/DL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0116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011680" cy="457200"/>
          </a:xfrm>
          <a:prstGeom prst="rect">
            <a:avLst/>
          </a:prstGeom>
          <a:solidFill>
            <a:srgbClr val="3D1F7C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05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1F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920240"/>
            <a:ext cx="1828800" cy="274320"/>
          </a:xfrm>
          <a:prstGeom prst="rect">
            <a:avLst/>
          </a:prstGeom>
          <a:solidFill>
            <a:srgbClr val="3D1F7C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1F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Weeks 1–4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0428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Python programming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76148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Linear Algebra &amp; Calculus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21868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Probability &amp; Statistics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67588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Data wrangling with Pandas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96312" y="1005840"/>
            <a:ext cx="20116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96312" y="1005840"/>
            <a:ext cx="2011680" cy="457200"/>
          </a:xfrm>
          <a:prstGeom prst="rect">
            <a:avLst/>
          </a:prstGeom>
          <a:solidFill>
            <a:srgbClr val="0D6EBD"/>
          </a:solidFill>
          <a:ln/>
        </p:spPr>
      </p:sp>
      <p:sp>
        <p:nvSpPr>
          <p:cNvPr id="16" name="Text 14"/>
          <p:cNvSpPr/>
          <p:nvPr/>
        </p:nvSpPr>
        <p:spPr>
          <a:xfrm>
            <a:off x="2496312" y="1005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87752" y="153619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6E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Classical ML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587752" y="1920240"/>
            <a:ext cx="1828800" cy="274320"/>
          </a:xfrm>
          <a:prstGeom prst="rect">
            <a:avLst/>
          </a:prstGeom>
          <a:solidFill>
            <a:srgbClr val="0D6EBD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587752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6E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Weeks 5–10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33472" y="230428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Scikit-learn algorithms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33472" y="276148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Supervised &amp; Unsupervised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33472" y="321868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Model evaluation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33472" y="367588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Feature engineering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72584" y="1005840"/>
            <a:ext cx="20116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72584" y="1005840"/>
            <a:ext cx="2011680" cy="457200"/>
          </a:xfrm>
          <a:prstGeom prst="rect">
            <a:avLst/>
          </a:prstGeom>
          <a:solidFill>
            <a:srgbClr val="1B7A4E"/>
          </a:solidFill>
          <a:ln/>
        </p:spPr>
      </p:sp>
      <p:sp>
        <p:nvSpPr>
          <p:cNvPr id="26" name="Text 24"/>
          <p:cNvSpPr/>
          <p:nvPr/>
        </p:nvSpPr>
        <p:spPr>
          <a:xfrm>
            <a:off x="4672584" y="1005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64024" y="153619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7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Learning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64024" y="1920240"/>
            <a:ext cx="1828800" cy="274320"/>
          </a:xfrm>
          <a:prstGeom prst="rect">
            <a:avLst/>
          </a:prstGeom>
          <a:solidFill>
            <a:srgbClr val="1B7A4E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764024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7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Weeks 11–18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9744" y="230428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TensorFlow / PyTorch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09744" y="276148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CNNs, RNNs, Transformers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9744" y="321868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Training &amp; optimisation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9744" y="367588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Transfer learning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48856" y="1005840"/>
            <a:ext cx="20116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48856" y="1005840"/>
            <a:ext cx="2011680" cy="4572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6" name="Text 34"/>
          <p:cNvSpPr/>
          <p:nvPr/>
        </p:nvSpPr>
        <p:spPr>
          <a:xfrm>
            <a:off x="6848856" y="1005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40296" y="153619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Specialise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940296" y="1920240"/>
            <a:ext cx="1828800" cy="274320"/>
          </a:xfrm>
          <a:prstGeom prst="rect">
            <a:avLst/>
          </a:prstGeom>
          <a:solidFill>
            <a:srgbClr val="6A1B9A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940296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Weeks 19+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86016" y="230428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NLP / Vision / RL / GenAI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86016" y="276148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Read research papers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986016" y="321868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Build portfolio projects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86016" y="367588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Kaggle competitions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20040" y="5029200"/>
            <a:ext cx="8503920" cy="0"/>
          </a:xfrm>
          <a:prstGeom prst="rect">
            <a:avLst/>
          </a:prstGeom>
          <a:solidFill>
            <a:srgbClr val="E8ECF4"/>
          </a:solidFill>
          <a:ln/>
        </p:spPr>
      </p:sp>
      <p:sp>
        <p:nvSpPr>
          <p:cNvPr id="45" name="Text 43"/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Career Roles: ML Engineer  •  Data Scientist  •  AI Researcher  •  NLP Engineer  •  Computer Vision Engineer  •  MLOps Engineer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3D1F7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1B7A4E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658368" cy="1188720"/>
          </a:xfrm>
          <a:prstGeom prst="rect">
            <a:avLst/>
          </a:prstGeom>
          <a:solidFill>
            <a:srgbClr val="3D1F7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6583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43000" y="1051560"/>
            <a:ext cx="146304" cy="146304"/>
          </a:xfrm>
          <a:prstGeom prst="ellipse">
            <a:avLst/>
          </a:prstGeom>
          <a:solidFill>
            <a:srgbClr val="3D1F7C"/>
          </a:solidFill>
          <a:ln/>
        </p:spPr>
      </p:sp>
      <p:sp>
        <p:nvSpPr>
          <p:cNvPr id="8" name="Text 6"/>
          <p:cNvSpPr/>
          <p:nvPr/>
        </p:nvSpPr>
        <p:spPr>
          <a:xfrm>
            <a:off x="1353312" y="1014984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Broadest field — simulating human intelligence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43000" y="1307592"/>
            <a:ext cx="146304" cy="146304"/>
          </a:xfrm>
          <a:prstGeom prst="ellipse">
            <a:avLst/>
          </a:prstGeom>
          <a:solidFill>
            <a:srgbClr val="3D1F7C"/>
          </a:solidFill>
          <a:ln/>
        </p:spPr>
      </p:sp>
      <p:sp>
        <p:nvSpPr>
          <p:cNvPr id="10" name="Text 8"/>
          <p:cNvSpPr/>
          <p:nvPr/>
        </p:nvSpPr>
        <p:spPr>
          <a:xfrm>
            <a:off x="1353312" y="1271016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Branches: ML, NLP, Vision, Robotics, GenAI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43000" y="1563624"/>
            <a:ext cx="146304" cy="146304"/>
          </a:xfrm>
          <a:prstGeom prst="ellipse">
            <a:avLst/>
          </a:prstGeom>
          <a:solidFill>
            <a:srgbClr val="3D1F7C"/>
          </a:solidFill>
          <a:ln/>
        </p:spPr>
      </p:sp>
      <p:sp>
        <p:nvSpPr>
          <p:cNvPr id="12" name="Text 10"/>
          <p:cNvSpPr/>
          <p:nvPr/>
        </p:nvSpPr>
        <p:spPr>
          <a:xfrm>
            <a:off x="1353312" y="1527048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Today: Narrow AI. Goal: AGI. Speculation: ASI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43000" y="1819656"/>
            <a:ext cx="146304" cy="146304"/>
          </a:xfrm>
          <a:prstGeom prst="ellipse">
            <a:avLst/>
          </a:prstGeom>
          <a:solidFill>
            <a:srgbClr val="3D1F7C"/>
          </a:solidFill>
          <a:ln/>
        </p:spPr>
      </p:sp>
      <p:sp>
        <p:nvSpPr>
          <p:cNvPr id="14" name="Text 12"/>
          <p:cNvSpPr/>
          <p:nvPr/>
        </p:nvSpPr>
        <p:spPr>
          <a:xfrm>
            <a:off x="1353312" y="178308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Ethics matter: bias, privacy, jobs, safety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658368" cy="1188720"/>
          </a:xfrm>
          <a:prstGeom prst="rect">
            <a:avLst/>
          </a:prstGeom>
          <a:solidFill>
            <a:srgbClr val="0D6EB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2286000"/>
            <a:ext cx="6583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43000" y="2377440"/>
            <a:ext cx="146304" cy="146304"/>
          </a:xfrm>
          <a:prstGeom prst="ellipse">
            <a:avLst/>
          </a:prstGeom>
          <a:solidFill>
            <a:srgbClr val="0D6EBD"/>
          </a:solidFill>
          <a:ln/>
        </p:spPr>
      </p:sp>
      <p:sp>
        <p:nvSpPr>
          <p:cNvPr id="18" name="Text 16"/>
          <p:cNvSpPr/>
          <p:nvPr/>
        </p:nvSpPr>
        <p:spPr>
          <a:xfrm>
            <a:off x="1353312" y="2340864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Subset of AI — learns from data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43000" y="2633472"/>
            <a:ext cx="146304" cy="146304"/>
          </a:xfrm>
          <a:prstGeom prst="ellipse">
            <a:avLst/>
          </a:prstGeom>
          <a:solidFill>
            <a:srgbClr val="0D6EBD"/>
          </a:solidFill>
          <a:ln/>
        </p:spPr>
      </p:sp>
      <p:sp>
        <p:nvSpPr>
          <p:cNvPr id="20" name="Text 18"/>
          <p:cNvSpPr/>
          <p:nvPr/>
        </p:nvSpPr>
        <p:spPr>
          <a:xfrm>
            <a:off x="1353312" y="2596896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Types: Supervised · Unsupervised · Reinforcement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143000" y="2889504"/>
            <a:ext cx="146304" cy="146304"/>
          </a:xfrm>
          <a:prstGeom prst="ellipse">
            <a:avLst/>
          </a:prstGeom>
          <a:solidFill>
            <a:srgbClr val="0D6EBD"/>
          </a:solidFill>
          <a:ln/>
        </p:spPr>
      </p:sp>
      <p:sp>
        <p:nvSpPr>
          <p:cNvPr id="22" name="Text 20"/>
          <p:cNvSpPr/>
          <p:nvPr/>
        </p:nvSpPr>
        <p:spPr>
          <a:xfrm>
            <a:off x="1353312" y="2852928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Workflow: Collect → Clean → Engineer → Train → Evaluate → Deploy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43000" y="3145536"/>
            <a:ext cx="146304" cy="146304"/>
          </a:xfrm>
          <a:prstGeom prst="ellipse">
            <a:avLst/>
          </a:prstGeom>
          <a:solidFill>
            <a:srgbClr val="0D6EBD"/>
          </a:solidFill>
          <a:ln/>
        </p:spPr>
      </p:sp>
      <p:sp>
        <p:nvSpPr>
          <p:cNvPr id="24" name="Text 22"/>
          <p:cNvSpPr/>
          <p:nvPr/>
        </p:nvSpPr>
        <p:spPr>
          <a:xfrm>
            <a:off x="1353312" y="310896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Tools: Python, Scikit-learn, Pandas, XGBoost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611880"/>
            <a:ext cx="658368" cy="1188720"/>
          </a:xfrm>
          <a:prstGeom prst="rect">
            <a:avLst/>
          </a:prstGeom>
          <a:solidFill>
            <a:srgbClr val="1B7A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3611880"/>
            <a:ext cx="6583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DL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143000" y="3703320"/>
            <a:ext cx="146304" cy="146304"/>
          </a:xfrm>
          <a:prstGeom prst="ellipse">
            <a:avLst/>
          </a:prstGeom>
          <a:solidFill>
            <a:srgbClr val="1B7A4E"/>
          </a:solidFill>
          <a:ln/>
        </p:spPr>
      </p:sp>
      <p:sp>
        <p:nvSpPr>
          <p:cNvPr id="28" name="Text 26"/>
          <p:cNvSpPr/>
          <p:nvPr/>
        </p:nvSpPr>
        <p:spPr>
          <a:xfrm>
            <a:off x="1353312" y="3666744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Subset of ML — multi-layer neural networks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143000" y="3959352"/>
            <a:ext cx="146304" cy="146304"/>
          </a:xfrm>
          <a:prstGeom prst="ellipse">
            <a:avLst/>
          </a:prstGeom>
          <a:solidFill>
            <a:srgbClr val="1B7A4E"/>
          </a:solidFill>
          <a:ln/>
        </p:spPr>
      </p:sp>
      <p:sp>
        <p:nvSpPr>
          <p:cNvPr id="30" name="Text 28"/>
          <p:cNvSpPr/>
          <p:nvPr/>
        </p:nvSpPr>
        <p:spPr>
          <a:xfrm>
            <a:off x="1353312" y="3922776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manual features — learns representations automatically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143000" y="4215384"/>
            <a:ext cx="146304" cy="146304"/>
          </a:xfrm>
          <a:prstGeom prst="ellipse">
            <a:avLst/>
          </a:prstGeom>
          <a:solidFill>
            <a:srgbClr val="1B7A4E"/>
          </a:solidFill>
          <a:ln/>
        </p:spPr>
      </p:sp>
      <p:sp>
        <p:nvSpPr>
          <p:cNvPr id="32" name="Text 30"/>
          <p:cNvSpPr/>
          <p:nvPr/>
        </p:nvSpPr>
        <p:spPr>
          <a:xfrm>
            <a:off x="1353312" y="4178808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Architectures: CNN, RNN, Transformer, GAN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143000" y="4471416"/>
            <a:ext cx="146304" cy="146304"/>
          </a:xfrm>
          <a:prstGeom prst="ellipse">
            <a:avLst/>
          </a:prstGeom>
          <a:solidFill>
            <a:srgbClr val="1B7A4E"/>
          </a:solidFill>
          <a:ln/>
        </p:spPr>
      </p:sp>
      <p:sp>
        <p:nvSpPr>
          <p:cNvPr id="34" name="Text 32"/>
          <p:cNvSpPr/>
          <p:nvPr/>
        </p:nvSpPr>
        <p:spPr>
          <a:xfrm>
            <a:off x="1353312" y="443484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Powers ChatGPT, DALL·E, AlphaFold, Tesla FSD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4754880"/>
            <a:ext cx="3044952" cy="388620"/>
          </a:xfrm>
          <a:prstGeom prst="rect">
            <a:avLst/>
          </a:prstGeom>
          <a:solidFill>
            <a:srgbClr val="3D1F7C"/>
          </a:solidFill>
          <a:ln/>
        </p:spPr>
      </p:sp>
      <p:sp>
        <p:nvSpPr>
          <p:cNvPr id="36" name="Shape 34"/>
          <p:cNvSpPr/>
          <p:nvPr/>
        </p:nvSpPr>
        <p:spPr>
          <a:xfrm>
            <a:off x="3044952" y="4754880"/>
            <a:ext cx="3044952" cy="388620"/>
          </a:xfrm>
          <a:prstGeom prst="rect">
            <a:avLst/>
          </a:prstGeom>
          <a:solidFill>
            <a:srgbClr val="0D6EBD"/>
          </a:solidFill>
          <a:ln/>
        </p:spPr>
      </p:sp>
      <p:sp>
        <p:nvSpPr>
          <p:cNvPr id="37" name="Shape 35"/>
          <p:cNvSpPr/>
          <p:nvPr/>
        </p:nvSpPr>
        <p:spPr>
          <a:xfrm>
            <a:off x="6089904" y="4754880"/>
            <a:ext cx="3054096" cy="388620"/>
          </a:xfrm>
          <a:prstGeom prst="rect">
            <a:avLst/>
          </a:prstGeom>
          <a:solidFill>
            <a:srgbClr val="1B7A4E"/>
          </a:solidFill>
          <a:ln/>
        </p:spPr>
      </p:sp>
      <p:sp>
        <p:nvSpPr>
          <p:cNvPr id="38" name="Text 3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 Keep Learning. The AI revolution is just beginning. 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AI, Machine Learning &amp; Deep Learning — Complete Lecture</dc:title>
  <dc:subject>PptxGenJS Presentation</dc:subject>
  <dc:creator>PptxGenJS</dc:creator>
  <cp:lastModifiedBy>PptxGenJS</cp:lastModifiedBy>
  <cp:revision>1</cp:revision>
  <dcterms:created xsi:type="dcterms:W3CDTF">2026-05-27T06:05:06Z</dcterms:created>
  <dcterms:modified xsi:type="dcterms:W3CDTF">2026-05-27T06:05:06Z</dcterms:modified>
</cp:coreProperties>
</file>